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Maja Kowalczyk</c:v>
                </c:pt>
              </c:strCache>
            </c:strRef>
          </c:tx>
          <c:spPr>
            <a:solidFill>
              <a:srgbClr val="D8231A"/>
            </a:solidFill>
            <a:ln w="25400" cap="flat">
              <a:solidFill>
                <a:srgbClr val="D823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8231A"/>
              </a:solidFill>
              <a:ln w="9525" cap="flat">
                <a:solidFill>
                  <a:srgbClr val="D823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  <c:pt idx="6">
                    <c:v>S7</c:v>
                  </c:pt>
                  <c:pt idx="7">
                    <c:v>S8</c:v>
                  </c:pt>
                  <c:pt idx="8">
                    <c:v>S9</c:v>
                  </c:pt>
                  <c:pt idx="9">
                    <c:v>S10</c:v>
                  </c:pt>
                  <c:pt idx="10">
                    <c:v>S11</c:v>
                  </c:pt>
                  <c:pt idx="11">
                    <c:v>S12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0.62</c:v>
                </c:pt>
                <c:pt idx="1">
                  <c:v>0.55</c:v>
                </c:pt>
                <c:pt idx="2">
                  <c:v>0.51</c:v>
                </c:pt>
                <c:pt idx="3">
                  <c:v>0.44</c:v>
                </c:pt>
                <c:pt idx="4">
                  <c:v>0.47</c:v>
                </c:pt>
                <c:pt idx="5">
                  <c:v>0.38</c:v>
                </c:pt>
                <c:pt idx="6">
                  <c:v>0.35</c:v>
                </c:pt>
                <c:pt idx="7">
                  <c:v>0.31</c:v>
                </c:pt>
                <c:pt idx="8">
                  <c:v>0.28</c:v>
                </c:pt>
                <c:pt idx="9">
                  <c:v>0.24</c:v>
                </c:pt>
                <c:pt idx="10">
                  <c:v>0.22</c:v>
                </c:pt>
                <c:pt idx="11">
                  <c:v>0.18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Class reference</c:v>
                </c:pt>
              </c:strCache>
            </c:strRef>
          </c:tx>
          <c:spPr>
            <a:solidFill>
              <a:srgbClr val="4A4F57"/>
            </a:solidFill>
            <a:ln w="25400" cap="flat">
              <a:solidFill>
                <a:srgbClr val="4A4F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4A4F57"/>
              </a:solidFill>
              <a:ln w="9525" cap="flat">
                <a:solidFill>
                  <a:srgbClr val="4A4F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  <c:pt idx="6">
                    <c:v>S7</c:v>
                  </c:pt>
                  <c:pt idx="7">
                    <c:v>S8</c:v>
                  </c:pt>
                  <c:pt idx="8">
                    <c:v>S9</c:v>
                  </c:pt>
                  <c:pt idx="9">
                    <c:v>S10</c:v>
                  </c:pt>
                  <c:pt idx="10">
                    <c:v>S11</c:v>
                  </c:pt>
                  <c:pt idx="11">
                    <c:v>S12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0.6</c:v>
                </c:pt>
                <c:pt idx="1">
                  <c:v>0.58</c:v>
                </c:pt>
                <c:pt idx="2">
                  <c:v>0.57</c:v>
                </c:pt>
                <c:pt idx="3">
                  <c:v>0.55</c:v>
                </c:pt>
                <c:pt idx="4">
                  <c:v>0.55</c:v>
                </c:pt>
                <c:pt idx="5">
                  <c:v>0.53</c:v>
                </c:pt>
                <c:pt idx="6">
                  <c:v>0.52</c:v>
                </c:pt>
                <c:pt idx="7">
                  <c:v>0.51</c:v>
                </c:pt>
                <c:pt idx="8">
                  <c:v>0.5</c:v>
                </c:pt>
                <c:pt idx="9">
                  <c:v>0.49</c:v>
                </c:pt>
                <c:pt idx="10">
                  <c:v>0.49</c:v>
                </c:pt>
                <c:pt idx="11">
                  <c:v>0.48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F4 entry</c:v>
                </c:pt>
              </c:strCache>
            </c:strRef>
          </c:tx>
          <c:spPr>
            <a:solidFill>
              <a:srgbClr val="2F80FF"/>
            </a:solidFill>
            <a:ln w="25400" cap="flat">
              <a:solidFill>
                <a:srgbClr val="2F80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80FF"/>
              </a:solidFill>
              <a:ln w="9525" cap="flat">
                <a:solidFill>
                  <a:srgbClr val="2F80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  <c:pt idx="6">
                    <c:v>S7</c:v>
                  </c:pt>
                  <c:pt idx="7">
                    <c:v>S8</c:v>
                  </c:pt>
                  <c:pt idx="8">
                    <c:v>S9</c:v>
                  </c:pt>
                  <c:pt idx="9">
                    <c:v>S10</c:v>
                  </c:pt>
                  <c:pt idx="10">
                    <c:v>S11</c:v>
                  </c:pt>
                  <c:pt idx="11">
                    <c:v>S12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0.3</c:v>
                </c:pt>
                <c:pt idx="1">
                  <c:v>0.3</c:v>
                </c:pt>
                <c:pt idx="2">
                  <c:v>0.3</c:v>
                </c:pt>
                <c:pt idx="3">
                  <c:v>0.3</c:v>
                </c:pt>
                <c:pt idx="4">
                  <c:v>0.3</c:v>
                </c:pt>
                <c:pt idx="5">
                  <c:v>0.3</c:v>
                </c:pt>
                <c:pt idx="6">
                  <c:v>0.3</c:v>
                </c:pt>
                <c:pt idx="7">
                  <c:v>0.3</c:v>
                </c:pt>
                <c:pt idx="8">
                  <c:v>0.3</c:v>
                </c:pt>
                <c:pt idx="9">
                  <c:v>0.3</c:v>
                </c:pt>
                <c:pt idx="10">
                  <c:v>0.3</c:v>
                </c:pt>
                <c:pt idx="11">
                  <c:v>0.3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85D65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0"/>
        <c:axPos val="l"/>
        <c:majorGridlines>
          <c:spPr>
            <a:ln w="6350" cap="flat">
              <a:solidFill>
                <a:srgbClr val="E6E7EA"/>
              </a:solidFill>
              <a:prstDash val="solid"/>
              <a:round/>
            </a:ln>
          </c:spPr>
        </c:majorGridlines>
        <c:numFmt formatCode="+0.00&quot;s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85D65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  <c:majorUnit val="0.3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85D65"/>
              </a:solidFill>
              <a:latin typeface="Sora"/>
              <a:cs typeface="Sora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One title, sentence case, no full stop. Swap the lockup for the business presenting: logo files are in the brand book under Resources.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divider. The red board carries the section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Statement and figure. One hero number per slide, Sora SemiBold, with its unit in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columns: 2.05 in wide with 0.27 in gutters. Boards are cut at 55 degrees; the one that matters goes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Charts: the subject in Race Red, comparisons in Steel, the line to beat in Engineering Blue. Mono for ticks and readouts.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Tables: hairlines, no boxes. Times in mono, names in Sora.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Blueprint layout for drawings, setup sheets and anything built to a dimension. Line work in white and light blue.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Strapline band: optional, full bleed at y 4.37 in, 0.45 in tall. It states the conclusion, never restates the title.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Closing. Replace the contact line with the presenter.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SG-Blueprint-image-2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G 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powerpenguini-Work-brand-book-sg/0c9e7a97-4f16-4ee7-bb01-8344c35f07eb/scratchpad/tpl/img/locku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402336"/>
            <a:ext cx="1097280" cy="47548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0624" y="4206240"/>
            <a:ext cx="8302752" cy="9144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4" name="Shape 1"/>
          <p:cNvSpPr/>
          <p:nvPr/>
        </p:nvSpPr>
        <p:spPr>
          <a:xfrm>
            <a:off x="420624" y="4174236"/>
            <a:ext cx="484632" cy="41148"/>
          </a:xfrm>
          <a:prstGeom prst="rect">
            <a:avLst/>
          </a:prstGeom>
          <a:solidFill>
            <a:srgbClr val="D8231A"/>
          </a:solidFill>
          <a:ln/>
        </p:spPr>
      </p:sp>
      <p:sp>
        <p:nvSpPr>
          <p:cNvPr id="5" name="Shape 2"/>
          <p:cNvSpPr/>
          <p:nvPr/>
        </p:nvSpPr>
        <p:spPr>
          <a:xfrm>
            <a:off x="42062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7" name="Shape 4"/>
          <p:cNvSpPr/>
          <p:nvPr/>
        </p:nvSpPr>
        <p:spPr>
          <a:xfrm>
            <a:off x="115214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8" name="Shape 5"/>
          <p:cNvSpPr/>
          <p:nvPr/>
        </p:nvSpPr>
        <p:spPr>
          <a:xfrm>
            <a:off x="151790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9" name="Shape 6"/>
          <p:cNvSpPr/>
          <p:nvPr/>
        </p:nvSpPr>
        <p:spPr>
          <a:xfrm>
            <a:off x="188366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0" name="Shape 7"/>
          <p:cNvSpPr/>
          <p:nvPr/>
        </p:nvSpPr>
        <p:spPr>
          <a:xfrm>
            <a:off x="224942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1" name="Shape 8"/>
          <p:cNvSpPr/>
          <p:nvPr/>
        </p:nvSpPr>
        <p:spPr>
          <a:xfrm>
            <a:off x="261518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2" name="Shape 9"/>
          <p:cNvSpPr/>
          <p:nvPr/>
        </p:nvSpPr>
        <p:spPr>
          <a:xfrm>
            <a:off x="298094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3" name="Shape 10"/>
          <p:cNvSpPr/>
          <p:nvPr/>
        </p:nvSpPr>
        <p:spPr>
          <a:xfrm>
            <a:off x="334670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4" name="Shape 11"/>
          <p:cNvSpPr/>
          <p:nvPr/>
        </p:nvSpPr>
        <p:spPr>
          <a:xfrm>
            <a:off x="371246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5" name="Shape 12"/>
          <p:cNvSpPr/>
          <p:nvPr/>
        </p:nvSpPr>
        <p:spPr>
          <a:xfrm>
            <a:off x="407822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6" name="Shape 13"/>
          <p:cNvSpPr/>
          <p:nvPr/>
        </p:nvSpPr>
        <p:spPr>
          <a:xfrm>
            <a:off x="444398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7" name="Shape 14"/>
          <p:cNvSpPr/>
          <p:nvPr/>
        </p:nvSpPr>
        <p:spPr>
          <a:xfrm>
            <a:off x="480974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8" name="Shape 15"/>
          <p:cNvSpPr/>
          <p:nvPr/>
        </p:nvSpPr>
        <p:spPr>
          <a:xfrm>
            <a:off x="517550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54126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0" name="Shape 17"/>
          <p:cNvSpPr/>
          <p:nvPr/>
        </p:nvSpPr>
        <p:spPr>
          <a:xfrm>
            <a:off x="590702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27278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2" name="Shape 19"/>
          <p:cNvSpPr/>
          <p:nvPr/>
        </p:nvSpPr>
        <p:spPr>
          <a:xfrm>
            <a:off x="663854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3" name="Shape 20"/>
          <p:cNvSpPr/>
          <p:nvPr/>
        </p:nvSpPr>
        <p:spPr>
          <a:xfrm>
            <a:off x="700430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4" name="Shape 21"/>
          <p:cNvSpPr/>
          <p:nvPr/>
        </p:nvSpPr>
        <p:spPr>
          <a:xfrm>
            <a:off x="737006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5" name="Shape 22"/>
          <p:cNvSpPr/>
          <p:nvPr/>
        </p:nvSpPr>
        <p:spPr>
          <a:xfrm>
            <a:off x="773582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6" name="Shape 23"/>
          <p:cNvSpPr/>
          <p:nvPr/>
        </p:nvSpPr>
        <p:spPr>
          <a:xfrm>
            <a:off x="810158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7" name="Shape 24"/>
          <p:cNvSpPr/>
          <p:nvPr/>
        </p:nvSpPr>
        <p:spPr>
          <a:xfrm>
            <a:off x="846734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8" name="Text 25"/>
          <p:cNvSpPr/>
          <p:nvPr>
            <p:ph idx="126" type="title" hasCustomPrompt="1"/>
          </p:nvPr>
        </p:nvSpPr>
        <p:spPr>
          <a:xfrm>
            <a:off x="420624" y="1554480"/>
            <a:ext cx="768096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Presentation title</a:t>
            </a:r>
            <a:endParaRPr lang="en-US" sz="4000" dirty="0"/>
          </a:p>
        </p:txBody>
      </p:sp>
      <p:sp>
        <p:nvSpPr>
          <p:cNvPr id="29" name="Text 25"/>
          <p:cNvSpPr/>
          <p:nvPr>
            <p:ph idx="127" type="body" hasCustomPrompt="1"/>
          </p:nvPr>
        </p:nvSpPr>
        <p:spPr>
          <a:xfrm>
            <a:off x="420624" y="3035808"/>
            <a:ext cx="7680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9DA1A8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rgbClr val="9DA1A8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Subtitle</a:t>
            </a:r>
            <a:endParaRPr lang="en-US" sz="2000" dirty="0"/>
          </a:p>
        </p:txBody>
      </p:sp>
      <p:sp>
        <p:nvSpPr>
          <p:cNvPr id="30" name="Text 25"/>
          <p:cNvSpPr/>
          <p:nvPr>
            <p:ph idx="128" type="body" hasCustomPrompt="1"/>
          </p:nvPr>
        </p:nvSpPr>
        <p:spPr>
          <a:xfrm>
            <a:off x="420624" y="4389120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7FB2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7FB2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Month 2026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G Section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powerpenguini-Work-brand-book-sg/0c9e7a97-4f16-4ee7-bb01-8344c35f07eb/scratchpad/tpl/img/board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1572768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420624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20624" y="224028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Section title</a:t>
            </a:r>
            <a:endParaRPr lang="en-US" sz="3600" dirty="0"/>
          </a:p>
        </p:txBody>
      </p:sp>
      <p:sp>
        <p:nvSpPr>
          <p:cNvPr id="5" name="Shape 0"/>
          <p:cNvSpPr/>
          <p:nvPr/>
        </p:nvSpPr>
        <p:spPr>
          <a:xfrm>
            <a:off x="420624" y="4206240"/>
            <a:ext cx="8302752" cy="9144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6" name="Shape 1"/>
          <p:cNvSpPr/>
          <p:nvPr/>
        </p:nvSpPr>
        <p:spPr>
          <a:xfrm>
            <a:off x="420624" y="4174236"/>
            <a:ext cx="484632" cy="41148"/>
          </a:xfrm>
          <a:prstGeom prst="rect">
            <a:avLst/>
          </a:prstGeom>
          <a:solidFill>
            <a:srgbClr val="D8231A"/>
          </a:solidFill>
          <a:ln/>
        </p:spPr>
      </p:sp>
      <p:sp>
        <p:nvSpPr>
          <p:cNvPr id="7" name="Shape 2"/>
          <p:cNvSpPr/>
          <p:nvPr/>
        </p:nvSpPr>
        <p:spPr>
          <a:xfrm>
            <a:off x="42062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8" name="Shape 3"/>
          <p:cNvSpPr/>
          <p:nvPr/>
        </p:nvSpPr>
        <p:spPr>
          <a:xfrm>
            <a:off x="78638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9" name="Shape 4"/>
          <p:cNvSpPr/>
          <p:nvPr/>
        </p:nvSpPr>
        <p:spPr>
          <a:xfrm>
            <a:off x="115214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0" name="Shape 5"/>
          <p:cNvSpPr/>
          <p:nvPr/>
        </p:nvSpPr>
        <p:spPr>
          <a:xfrm>
            <a:off x="151790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1" name="Shape 6"/>
          <p:cNvSpPr/>
          <p:nvPr/>
        </p:nvSpPr>
        <p:spPr>
          <a:xfrm>
            <a:off x="188366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2" name="Shape 7"/>
          <p:cNvSpPr/>
          <p:nvPr/>
        </p:nvSpPr>
        <p:spPr>
          <a:xfrm>
            <a:off x="224942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3" name="Shape 8"/>
          <p:cNvSpPr/>
          <p:nvPr/>
        </p:nvSpPr>
        <p:spPr>
          <a:xfrm>
            <a:off x="261518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4" name="Shape 9"/>
          <p:cNvSpPr/>
          <p:nvPr/>
        </p:nvSpPr>
        <p:spPr>
          <a:xfrm>
            <a:off x="298094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5" name="Shape 10"/>
          <p:cNvSpPr/>
          <p:nvPr/>
        </p:nvSpPr>
        <p:spPr>
          <a:xfrm>
            <a:off x="334670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6" name="Shape 11"/>
          <p:cNvSpPr/>
          <p:nvPr/>
        </p:nvSpPr>
        <p:spPr>
          <a:xfrm>
            <a:off x="371246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7" name="Shape 12"/>
          <p:cNvSpPr/>
          <p:nvPr/>
        </p:nvSpPr>
        <p:spPr>
          <a:xfrm>
            <a:off x="407822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8" name="Shape 13"/>
          <p:cNvSpPr/>
          <p:nvPr/>
        </p:nvSpPr>
        <p:spPr>
          <a:xfrm>
            <a:off x="444398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9" name="Shape 14"/>
          <p:cNvSpPr/>
          <p:nvPr/>
        </p:nvSpPr>
        <p:spPr>
          <a:xfrm>
            <a:off x="480974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0" name="Shape 15"/>
          <p:cNvSpPr/>
          <p:nvPr/>
        </p:nvSpPr>
        <p:spPr>
          <a:xfrm>
            <a:off x="517550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1" name="Shape 16"/>
          <p:cNvSpPr/>
          <p:nvPr/>
        </p:nvSpPr>
        <p:spPr>
          <a:xfrm>
            <a:off x="554126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2" name="Shape 17"/>
          <p:cNvSpPr/>
          <p:nvPr/>
        </p:nvSpPr>
        <p:spPr>
          <a:xfrm>
            <a:off x="590702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3" name="Shape 18"/>
          <p:cNvSpPr/>
          <p:nvPr/>
        </p:nvSpPr>
        <p:spPr>
          <a:xfrm>
            <a:off x="627278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4" name="Shape 19"/>
          <p:cNvSpPr/>
          <p:nvPr/>
        </p:nvSpPr>
        <p:spPr>
          <a:xfrm>
            <a:off x="663854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5" name="Shape 20"/>
          <p:cNvSpPr/>
          <p:nvPr/>
        </p:nvSpPr>
        <p:spPr>
          <a:xfrm>
            <a:off x="700430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6" name="Shape 21"/>
          <p:cNvSpPr/>
          <p:nvPr/>
        </p:nvSpPr>
        <p:spPr>
          <a:xfrm>
            <a:off x="737006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7" name="Shape 22"/>
          <p:cNvSpPr/>
          <p:nvPr/>
        </p:nvSpPr>
        <p:spPr>
          <a:xfrm>
            <a:off x="773582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8" name="Shape 23"/>
          <p:cNvSpPr/>
          <p:nvPr/>
        </p:nvSpPr>
        <p:spPr>
          <a:xfrm>
            <a:off x="810158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9" name="Shape 24"/>
          <p:cNvSpPr/>
          <p:nvPr/>
        </p:nvSpPr>
        <p:spPr>
          <a:xfrm>
            <a:off x="846734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pic>
        <p:nvPicPr>
          <p:cNvPr id="30" name="Image 1" descr="/tmp/claude-1000/-home-powerpenguini-Work-brand-book-sg/0c9e7a97-4f16-4ee7-bb01-8344c35f07eb/scratchpad/tpl/img/lockup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4562856"/>
            <a:ext cx="759655" cy="3291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91856" y="4608576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DA1A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G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20624" y="402336"/>
            <a:ext cx="8302752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rgbClr val="0B0C0E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dirty="0">
                <a:solidFill>
                  <a:srgbClr val="0B0C0E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Slide title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20624" y="1024128"/>
            <a:ext cx="8302752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B0C0E"/>
                </a:solidFill>
                <a:latin typeface="Sora" pitchFamily="34" charset="0"/>
                <a:ea typeface="Sora" pitchFamily="34" charset="-122"/>
                <a:cs typeface="Sor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B0C0E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Content</a:t>
            </a:r>
            <a:endParaRPr lang="en-US" sz="1200" dirty="0"/>
          </a:p>
        </p:txBody>
      </p:sp>
      <p:pic>
        <p:nvPicPr>
          <p:cNvPr id="4" name="Image 0" descr="/tmp/claude-1000/-home-powerpenguini-Work-brand-book-sg/0c9e7a97-4f16-4ee7-bb01-8344c35f07eb/scratchpad/tpl/img/lockup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4562856"/>
            <a:ext cx="759655" cy="3291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91856" y="4608576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85D65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G Content 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20624" y="402336"/>
            <a:ext cx="8302752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Slide title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20624" y="1024128"/>
            <a:ext cx="8302752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Content</a:t>
            </a:r>
            <a:endParaRPr lang="en-US" sz="1200" dirty="0"/>
          </a:p>
        </p:txBody>
      </p:sp>
      <p:pic>
        <p:nvPicPr>
          <p:cNvPr id="4" name="Image 0" descr="/tmp/claude-1000/-home-powerpenguini-Work-brand-book-sg/0c9e7a97-4f16-4ee7-bb01-8344c35f07eb/scratchpad/tpl/img/locku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4562856"/>
            <a:ext cx="759655" cy="3291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91856" y="4608576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DA1A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G Bluepri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20624" y="402336"/>
            <a:ext cx="8302752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Drawing title</a:t>
            </a:r>
            <a:endParaRPr lang="en-US" sz="2400" dirty="0"/>
          </a:p>
        </p:txBody>
      </p:sp>
      <p:pic>
        <p:nvPicPr>
          <p:cNvPr id="3" name="Image 0" descr="/tmp/claude-1000/-home-powerpenguini-Work-brand-book-sg/0c9e7a97-4f16-4ee7-bb01-8344c35f07eb/scratchpad/tpl/img/locku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4562856"/>
            <a:ext cx="759655" cy="3291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91856" y="4608576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DA1A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G Closing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powerpenguini-Work-brand-book-sg/0c9e7a97-4f16-4ee7-bb01-8344c35f07eb/scratchpad/tpl/img/glyph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1097280"/>
            <a:ext cx="537882" cy="8229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20624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Closing line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20624" y="3063240"/>
            <a:ext cx="7680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7FB2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7FB2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contact</a:t>
            </a:r>
            <a:endParaRPr lang="en-US" sz="1000" dirty="0"/>
          </a:p>
        </p:txBody>
      </p:sp>
      <p:sp>
        <p:nvSpPr>
          <p:cNvPr id="5" name="Shape 0"/>
          <p:cNvSpPr/>
          <p:nvPr/>
        </p:nvSpPr>
        <p:spPr>
          <a:xfrm>
            <a:off x="420624" y="4206240"/>
            <a:ext cx="8302752" cy="9144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6" name="Shape 1"/>
          <p:cNvSpPr/>
          <p:nvPr/>
        </p:nvSpPr>
        <p:spPr>
          <a:xfrm>
            <a:off x="420624" y="4174236"/>
            <a:ext cx="484632" cy="41148"/>
          </a:xfrm>
          <a:prstGeom prst="rect">
            <a:avLst/>
          </a:prstGeom>
          <a:solidFill>
            <a:srgbClr val="D8231A"/>
          </a:solidFill>
          <a:ln/>
        </p:spPr>
      </p:sp>
      <p:sp>
        <p:nvSpPr>
          <p:cNvPr id="7" name="Shape 2"/>
          <p:cNvSpPr/>
          <p:nvPr/>
        </p:nvSpPr>
        <p:spPr>
          <a:xfrm>
            <a:off x="42062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8" name="Shape 3"/>
          <p:cNvSpPr/>
          <p:nvPr/>
        </p:nvSpPr>
        <p:spPr>
          <a:xfrm>
            <a:off x="78638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9" name="Shape 4"/>
          <p:cNvSpPr/>
          <p:nvPr/>
        </p:nvSpPr>
        <p:spPr>
          <a:xfrm>
            <a:off x="115214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0" name="Shape 5"/>
          <p:cNvSpPr/>
          <p:nvPr/>
        </p:nvSpPr>
        <p:spPr>
          <a:xfrm>
            <a:off x="151790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1" name="Shape 6"/>
          <p:cNvSpPr/>
          <p:nvPr/>
        </p:nvSpPr>
        <p:spPr>
          <a:xfrm>
            <a:off x="188366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2" name="Shape 7"/>
          <p:cNvSpPr/>
          <p:nvPr/>
        </p:nvSpPr>
        <p:spPr>
          <a:xfrm>
            <a:off x="224942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3" name="Shape 8"/>
          <p:cNvSpPr/>
          <p:nvPr/>
        </p:nvSpPr>
        <p:spPr>
          <a:xfrm>
            <a:off x="261518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4" name="Shape 9"/>
          <p:cNvSpPr/>
          <p:nvPr/>
        </p:nvSpPr>
        <p:spPr>
          <a:xfrm>
            <a:off x="298094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5" name="Shape 10"/>
          <p:cNvSpPr/>
          <p:nvPr/>
        </p:nvSpPr>
        <p:spPr>
          <a:xfrm>
            <a:off x="334670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6" name="Shape 11"/>
          <p:cNvSpPr/>
          <p:nvPr/>
        </p:nvSpPr>
        <p:spPr>
          <a:xfrm>
            <a:off x="371246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7" name="Shape 12"/>
          <p:cNvSpPr/>
          <p:nvPr/>
        </p:nvSpPr>
        <p:spPr>
          <a:xfrm>
            <a:off x="407822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8" name="Shape 13"/>
          <p:cNvSpPr/>
          <p:nvPr/>
        </p:nvSpPr>
        <p:spPr>
          <a:xfrm>
            <a:off x="444398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19" name="Shape 14"/>
          <p:cNvSpPr/>
          <p:nvPr/>
        </p:nvSpPr>
        <p:spPr>
          <a:xfrm>
            <a:off x="480974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0" name="Shape 15"/>
          <p:cNvSpPr/>
          <p:nvPr/>
        </p:nvSpPr>
        <p:spPr>
          <a:xfrm>
            <a:off x="517550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1" name="Shape 16"/>
          <p:cNvSpPr/>
          <p:nvPr/>
        </p:nvSpPr>
        <p:spPr>
          <a:xfrm>
            <a:off x="554126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2" name="Shape 17"/>
          <p:cNvSpPr/>
          <p:nvPr/>
        </p:nvSpPr>
        <p:spPr>
          <a:xfrm>
            <a:off x="590702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3" name="Shape 18"/>
          <p:cNvSpPr/>
          <p:nvPr/>
        </p:nvSpPr>
        <p:spPr>
          <a:xfrm>
            <a:off x="627278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4" name="Shape 19"/>
          <p:cNvSpPr/>
          <p:nvPr/>
        </p:nvSpPr>
        <p:spPr>
          <a:xfrm>
            <a:off x="663854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5" name="Shape 20"/>
          <p:cNvSpPr/>
          <p:nvPr/>
        </p:nvSpPr>
        <p:spPr>
          <a:xfrm>
            <a:off x="700430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6" name="Shape 21"/>
          <p:cNvSpPr/>
          <p:nvPr/>
        </p:nvSpPr>
        <p:spPr>
          <a:xfrm>
            <a:off x="737006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7" name="Shape 22"/>
          <p:cNvSpPr/>
          <p:nvPr/>
        </p:nvSpPr>
        <p:spPr>
          <a:xfrm>
            <a:off x="773582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8" name="Shape 23"/>
          <p:cNvSpPr/>
          <p:nvPr/>
        </p:nvSpPr>
        <p:spPr>
          <a:xfrm>
            <a:off x="810158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  <p:sp>
        <p:nvSpPr>
          <p:cNvPr id="29" name="Shape 24"/>
          <p:cNvSpPr/>
          <p:nvPr/>
        </p:nvSpPr>
        <p:spPr>
          <a:xfrm>
            <a:off x="8467344" y="4142232"/>
            <a:ext cx="7315" cy="64008"/>
          </a:xfrm>
          <a:prstGeom prst="rect">
            <a:avLst/>
          </a:prstGeom>
          <a:solidFill>
            <a:srgbClr val="2F80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91856" y="4608576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DA1A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5"/>
          <p:cNvSpPr/>
          <p:nvPr>
            <p:ph idx="126" type="title" hasCustomPrompt="1"/>
          </p:nvPr>
        </p:nvSpPr>
        <p:spPr>
          <a:xfrm>
            <a:off x="420624" y="155448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Presentation title in sentence case</a:t>
            </a:r>
            <a:endParaRPr lang="en-US" sz="4000" dirty="0"/>
          </a:p>
        </p:txBody>
      </p:sp>
      <p:sp>
        <p:nvSpPr>
          <p:cNvPr id="3" name="Text 25"/>
          <p:cNvSpPr/>
          <p:nvPr>
            <p:ph idx="127" type="body" hasCustomPrompt="1"/>
          </p:nvPr>
        </p:nvSpPr>
        <p:spPr>
          <a:xfrm>
            <a:off x="420624" y="303580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9DA1A8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A subtitle that says who it is for and why</a:t>
            </a:r>
            <a:endParaRPr lang="en-US" sz="2000" dirty="0"/>
          </a:p>
        </p:txBody>
      </p:sp>
      <p:sp>
        <p:nvSpPr>
          <p:cNvPr id="4" name="Text 25"/>
          <p:cNvSpPr/>
          <p:nvPr>
            <p:ph idx="128" type="body" hasCustomPrompt="1"/>
          </p:nvPr>
        </p:nvSpPr>
        <p:spPr>
          <a:xfrm>
            <a:off x="420624" y="4389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900" dirty="0">
                <a:solidFill>
                  <a:srgbClr val="7FB2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Smedley Group, September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420624" y="157276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420624" y="22402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Section title, short and plain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91856" y="4608576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DA1A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20624" y="402336"/>
            <a:ext cx="8302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0B0C0E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One slide, one point: say it in the title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20624" y="1024128"/>
            <a:ext cx="40233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B0C0E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Lead with the conclusion. The reader should be able to stop after the title and still act.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85D65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Supporting points in plain sentences, not fragments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85D65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Numbers with units: 0.18 s, 57 %, 1,406 sessions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85D65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Sentence case everywhere, no capitals for emphasis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212080" y="109728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spc="-300" kern="0" dirty="0">
                <a:solidFill>
                  <a:srgbClr val="0B0C0E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57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6656832" y="124358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D8231A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%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257800" y="25146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D65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of the way to F1, the one figure this slide is about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257800" y="3291840"/>
            <a:ext cx="3383280" cy="0"/>
          </a:xfrm>
          <a:prstGeom prst="line">
            <a:avLst/>
          </a:prstGeom>
          <a:noFill/>
          <a:ln w="9525">
            <a:solidFill>
              <a:srgbClr val="D9DAD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57800" y="33832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85D6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TalentID, season 2026</a:t>
            </a:r>
            <a:endParaRPr lang="en-US" sz="8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420624" y="1024128"/>
            <a:ext cx="83027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91856" y="4608576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85D65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20624" y="402336"/>
            <a:ext cx="8302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0B0C0E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Four columns on the grid, 2.05 in wide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 flipH="1">
            <a:off x="420624" y="1143000"/>
            <a:ext cx="576072" cy="274320"/>
          </a:xfrm>
          <a:prstGeom prst="parallelogram">
            <a:avLst>
              <a:gd name="adj" fmla="val 70000"/>
            </a:avLst>
          </a:prstGeom>
          <a:solidFill>
            <a:srgbClr val="0B0C0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20624" y="114300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20624" y="1645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0C0E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Hub trial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20624" y="2084832"/>
            <a:ext cx="1874520" cy="0"/>
          </a:xfrm>
          <a:prstGeom prst="line">
            <a:avLst/>
          </a:prstGeom>
          <a:noFill/>
          <a:ln w="9525">
            <a:solidFill>
              <a:srgbClr val="D9DA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0624" y="219456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D65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 first timed session at any FKL hub.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 flipH="1">
            <a:off x="2542032" y="1143000"/>
            <a:ext cx="576072" cy="274320"/>
          </a:xfrm>
          <a:prstGeom prst="parallelogram">
            <a:avLst>
              <a:gd name="adj" fmla="val 70000"/>
            </a:avLst>
          </a:prstGeom>
          <a:solidFill>
            <a:srgbClr val="0B0C0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542032" y="114300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542032" y="1645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0C0E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FKL season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542032" y="2084832"/>
            <a:ext cx="1874520" cy="0"/>
          </a:xfrm>
          <a:prstGeom prst="line">
            <a:avLst/>
          </a:prstGeom>
          <a:noFill/>
          <a:ln w="9525">
            <a:solidFill>
              <a:srgbClr val="D9DAD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42032" y="219456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D65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 full season with index tracked every lap.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flipH="1">
            <a:off x="4663440" y="1143000"/>
            <a:ext cx="576072" cy="274320"/>
          </a:xfrm>
          <a:prstGeom prst="parallelogram">
            <a:avLst>
              <a:gd name="adj" fmla="val 70000"/>
            </a:avLst>
          </a:prstGeom>
          <a:solidFill>
            <a:srgbClr val="D8231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63440" y="114300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1645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0C0E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F4 test day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663440" y="2084832"/>
            <a:ext cx="1874520" cy="0"/>
          </a:xfrm>
          <a:prstGeom prst="line">
            <a:avLst/>
          </a:prstGeom>
          <a:noFill/>
          <a:ln w="9525">
            <a:solidFill>
              <a:srgbClr val="D9DAD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63440" y="219456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D65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Index above 85 earns a day in an F4 car.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 flipH="1">
            <a:off x="6784848" y="1143000"/>
            <a:ext cx="576072" cy="274320"/>
          </a:xfrm>
          <a:prstGeom prst="parallelogram">
            <a:avLst>
              <a:gd name="adj" fmla="val 70000"/>
            </a:avLst>
          </a:prstGeom>
          <a:solidFill>
            <a:srgbClr val="0B0C0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784848" y="114300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784848" y="1645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0C0E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F4 seat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784848" y="2084832"/>
            <a:ext cx="1874520" cy="0"/>
          </a:xfrm>
          <a:prstGeom prst="line">
            <a:avLst/>
          </a:prstGeom>
          <a:noFill/>
          <a:ln w="9525">
            <a:solidFill>
              <a:srgbClr val="D9DAD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84848" y="219456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D65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FAT Racing funds the season that follows.</a:t>
            </a:r>
            <a:endParaRPr lang="en-US" sz="11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420624" y="1024128"/>
            <a:ext cx="83027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91856" y="4608576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85D65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20624" y="402336"/>
            <a:ext cx="8302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0B0C0E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Maja is closing on the F4 entry line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20624" y="1024128"/>
          <a:ext cx="56692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0" y="1188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0B0C0E"/>
                </a:solidFill>
                <a:latin typeface="IBM Plex Mono Medium" pitchFamily="34" charset="0"/>
                <a:ea typeface="IBM Plex Mono Medium" pitchFamily="34" charset="-122"/>
                <a:cs typeface="IBM Plex Mono Medium" pitchFamily="34" charset="-120"/>
              </a:rPr>
              <a:t>+0.18 s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6400800" y="17830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D65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gap to the class reference after 12 sessions, down from +0.62 s</a:t>
            </a:r>
            <a:endParaRPr lang="en-US" sz="11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420624" y="1024128"/>
            <a:ext cx="83027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91856" y="4608576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85D65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20624" y="402336"/>
            <a:ext cx="8302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0B0C0E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Qualifying, FKL Łódź, cadet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1097280"/>
          <a:ext cx="830275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651760"/>
                <a:gridCol w="1097280"/>
                <a:gridCol w="914400"/>
                <a:gridCol w="1005840"/>
                <a:gridCol w="1005840"/>
                <a:gridCol w="107899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85D65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Pos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85D65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Driver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585D65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Best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585D65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Gap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585D65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S1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585D65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S2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585D65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S3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8231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C0E"/>
                          </a:solidFill>
                          <a:latin typeface="Sora" pitchFamily="34" charset="0"/>
                          <a:ea typeface="Sora" pitchFamily="34" charset="-122"/>
                          <a:cs typeface="Sora" pitchFamily="34" charset="-120"/>
                        </a:rPr>
                        <a:t>Maja Kowalczyk</a:t>
                      </a:r>
                      <a:endParaRPr lang="en-US" sz="1100" dirty="0">
                        <a:latin typeface="Sora" charset="0"/>
                        <a:ea typeface="Sora" charset="0"/>
                        <a:cs typeface="Sora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0C0E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1:02.418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0C0E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Leader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0C0E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20.904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A04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20.771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0C0E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20.743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C0E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C0E"/>
                          </a:solidFill>
                          <a:latin typeface="Sora" pitchFamily="34" charset="0"/>
                          <a:ea typeface="Sora" pitchFamily="34" charset="-122"/>
                          <a:cs typeface="Sora" pitchFamily="34" charset="-120"/>
                        </a:rPr>
                        <a:t>Leo Hartmann</a:t>
                      </a:r>
                      <a:endParaRPr lang="en-US" sz="1100" dirty="0">
                        <a:latin typeface="Sora" charset="0"/>
                        <a:ea typeface="Sora" charset="0"/>
                        <a:cs typeface="Sora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0C0E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1:02.521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0C0E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+0.103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0C0E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20.951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0C0E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20.868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A04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20.702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C0E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C0E"/>
                          </a:solidFill>
                          <a:latin typeface="Sora" pitchFamily="34" charset="0"/>
                          <a:ea typeface="Sora" pitchFamily="34" charset="-122"/>
                          <a:cs typeface="Sora" pitchFamily="34" charset="-120"/>
                        </a:rPr>
                        <a:t>Aarav Mehta</a:t>
                      </a:r>
                      <a:endParaRPr lang="en-US" sz="1100" dirty="0">
                        <a:latin typeface="Sora" charset="0"/>
                        <a:ea typeface="Sora" charset="0"/>
                        <a:cs typeface="Sora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0C0E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1:02.977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0C0E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+0.559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A04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20.887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0C0E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21.101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0C0E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20.989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20624" y="3017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85D65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The leader in red. The fastest time in each sector is the only green on the slide.</a:t>
            </a:r>
            <a:endParaRPr lang="en-US" sz="10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420624" y="1024128"/>
            <a:ext cx="83027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91856" y="4608576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85D65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20624" y="402336"/>
            <a:ext cx="8302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The glyph is built on one module</a:t>
            </a:r>
            <a:endParaRPr lang="en-US" sz="2400" dirty="0"/>
          </a:p>
        </p:txBody>
      </p:sp>
      <p:pic>
        <p:nvPicPr>
          <p:cNvPr id="3" name="Image 0" descr="/tmp/claude-1000/-home-powerpenguini-Work-brand-book-sg/0c9e7a97-4f16-4ee7-bb01-8344c35f07eb/scratchpad/tpl/img/blue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1024128"/>
            <a:ext cx="2536911" cy="2926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840480" y="1115568"/>
            <a:ext cx="4846320" cy="0"/>
          </a:xfrm>
          <a:prstGeom prst="line">
            <a:avLst/>
          </a:prstGeom>
          <a:noFill/>
          <a:ln w="9525">
            <a:solidFill>
              <a:srgbClr val="3E5F9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840480" y="11887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Module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577840" y="11887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C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23.75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840480" y="1572768"/>
            <a:ext cx="4846320" cy="0"/>
          </a:xfrm>
          <a:prstGeom prst="line">
            <a:avLst/>
          </a:prstGeom>
          <a:noFill/>
          <a:ln w="9525">
            <a:solidFill>
              <a:srgbClr val="3E5F9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840480" y="16459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Long bar, F4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7784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C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71.3 × 14.2, three modules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840480" y="2029968"/>
            <a:ext cx="4846320" cy="0"/>
          </a:xfrm>
          <a:prstGeom prst="line">
            <a:avLst/>
          </a:prstGeom>
          <a:noFill/>
          <a:ln w="9525">
            <a:solidFill>
              <a:srgbClr val="3E5F9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840480" y="21031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Short bars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577840" y="21031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C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47.7 × 14.2, two modules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840480" y="2487168"/>
            <a:ext cx="4846320" cy="0"/>
          </a:xfrm>
          <a:prstGeom prst="line">
            <a:avLst/>
          </a:prstGeom>
          <a:noFill/>
          <a:ln w="9525">
            <a:solidFill>
              <a:srgbClr val="3E5F9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40480" y="25603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Lean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577840" y="2560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C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55°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91856" y="4608576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DA1A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20624" y="402336"/>
            <a:ext cx="8302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A dark slide for moments that need weight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20624" y="102412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Dark slides open and close a deck, or frame a single figure. Keep them rare, so they still mean something.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20624" y="20116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12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2514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DA1A8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drivers ready for F4 this season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3995928"/>
            <a:ext cx="91440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20624" y="3995928"/>
            <a:ext cx="8302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B0C0E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Strapline band: the conclusion in one sentence</a:t>
            </a:r>
            <a:endParaRPr lang="en-US" sz="13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420624" y="1024128"/>
            <a:ext cx="83027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91856" y="4608576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DA1A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20624" y="21031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End on the point, in one sentence.</a:t>
            </a:r>
            <a:endParaRPr lang="en-US" sz="32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420624" y="30632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dirty="0">
                <a:solidFill>
                  <a:srgbClr val="7FB2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name@smedleygroup.com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ora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r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Smedley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Smedley Group presentation template</dc:title>
  <dc:subject>PptxGenJS Presentation</dc:subject>
  <dc:creator>Smedley Group</dc:creator>
  <cp:lastModifiedBy>Smedley Group</cp:lastModifiedBy>
  <cp:revision>1</cp:revision>
  <dcterms:created xsi:type="dcterms:W3CDTF">2026-09-25T20:41:50Z</dcterms:created>
  <dcterms:modified xsi:type="dcterms:W3CDTF">2026-09-25T20:41:50Z</dcterms:modified>
</cp:coreProperties>
</file>